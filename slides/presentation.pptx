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unscheduled engine removals cost airlines millions; we turn sensor streams into remaining-useful-life estimates plus green-amber-red alerts. Headline numbers are on screen: capped test RMSE with a grouped cross-validation score to match — no test leakage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train runs to failure so RUL is exact; test is truncated with official RUL labels at the last cycle. Four subsets span operating conditions and fault modes; thresholds sit below the cap so classes are undistorted.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every fit happens on train folds only; test features use past data causally. Model selection uses grouped CV only — the test set never picks the model. Two leakage bugs were found and fixed; details on the next-but-one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sensors sit flat for most of an engine's life then degrade steeply — training on raw RUL of 200-plus cycles would fit noise, hence the cap at 125. And most rows are healthy, so we optimise recall,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six operating modes shift every sensor; global scaling confuses mode with damage. Within-cluster normalisation removes the modes, and setpoint sensors correctly vanish from the feature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our strongest methods slide: permutation importance showed the model leaning on condition proxies s1 and s5 — sensors that cannot carry damage signal. Tracing why exposed smoothing-before-normalisation; fixing the order gained five RMSE points, now a documented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HGB is cross-validation-selected on all four subsets; deep models trail by one to four points — reported, not hidden. Multi-condition subsets stay harder, but the gap closed from twofold to under ten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read rows as truth, columns as prediction. Warning-adjacent errors still trigger action; the dangerous cell is true-critical predicted safe — rare here, and counted explicitly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the alert threshold is tuned on validation folds at realistic truncation points, frozen, then applied once to test. Full recall on all four test sets; FD004 pays the most false alarms under two fault modes (numbers on the slide and in the report).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the policy buys roughly fifty cycles of advance warning — comfortably plannable — with under one false alarm per hundred cycles (exact medians in the report). Costs are assumed, stated as such, with a sensitivity table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every pipeline choice carries a number, including negative results — class weighting and extra op features do not help, and we say so. Deep window fifty overfits its holdout: ten-point holdout error becomes sixteen 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small test sets mean wide confidence intervals — shown, not hidden. Conformal intervals cover near nominally but are wide far from failure. Red alerts advise; engineers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next steps are real-fleet adaptation with drift monitoring and richer uncertainty. Thank you —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Turbofan RUL &amp; Maintenance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TE7483 · NASA C-MAPSS (PHM08)</a:t>
            </a:r>
          </a:p>
          <a:p>
            <a:pPr/>
            <a:r>
              <a:t>FD001 hgb: RMSE 12.4 (CV 11.6), PHM 241</a:t>
            </a:r>
          </a:p>
          <a:p>
            <a:pPr/>
            <a:r>
              <a:t>RUL regression → green/amber/red alert policy, tuned on validation only</a:t>
            </a:r>
          </a:p>
        </p:txBody>
      </p:sp>
      <p:pic>
        <p:nvPicPr>
          <p:cNvPr id="4" name="Picture 3" descr="FD001_pred_vs_true_h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6384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run-to-failure + truncated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26 cols: unit, cycle, 3 ops, 21 sensors</a:t>
            </a:r>
          </a:p>
          <a:p>
            <a:pPr/>
            <a:r>
              <a:t>FD001–FD004: 1/6 conditions × HPC / HPC+Fan faults</a:t>
            </a:r>
          </a:p>
          <a:p>
            <a:pPr/>
            <a:r>
              <a:t>Labels: RUL capped @125; safe&gt;50, warn 20–50, crit&lt;20, ≤30 binary</a:t>
            </a:r>
          </a:p>
        </p:txBody>
      </p:sp>
      <p:pic>
        <p:nvPicPr>
          <p:cNvPr id="4" name="Picture 3" descr="FD001_lifetim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361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Pipeline: normalise FIRST, then smooth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GroupKFold by engine; train-only scalers/KMeans</a:t>
            </a:r>
          </a:p>
          <a:p>
            <a:pPr/>
            <a:r>
              <a:t>Piece-wise cap 125; causal rolling + length-30 windows</a:t>
            </a:r>
          </a:p>
          <a:p>
            <a:pPr/>
            <a:r>
              <a:t>Baselines → RF/HGB/MLP → LSTM/CNN; direct vs RUL-threshold</a:t>
            </a:r>
          </a:p>
        </p:txBody>
      </p:sp>
      <p:pic>
        <p:nvPicPr>
          <p:cNvPr id="4" name="Picture 3" descr="pipeline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23666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EDA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Degradation invisible early → the cap is justified</a:t>
            </a:r>
          </a:p>
          <a:p>
            <a:pPr/>
            <a:r>
              <a:t>Correlation + monotonicity select sensors</a:t>
            </a:r>
          </a:p>
          <a:p>
            <a:pPr/>
            <a:r>
              <a:t>Safe rows dominate: accuracy is the wrong metric</a:t>
            </a:r>
          </a:p>
        </p:txBody>
      </p:sp>
      <p:pic>
        <p:nvPicPr>
          <p:cNvPr id="4" name="Picture 3" descr="FD001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96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 normalisation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KMeans k=6 on standardised ops: elbow + silhouette</a:t>
            </a:r>
          </a:p>
          <a:p>
            <a:pPr/>
            <a:r>
              <a:t>Within-cluster z-score collapses the six modes</a:t>
            </a:r>
          </a:p>
          <a:p>
            <a:pPr/>
            <a:r>
              <a:t>s1/s5/s18/s19 drop out (constant within condition)</a:t>
            </a:r>
          </a:p>
        </p:txBody>
      </p:sp>
      <p:pic>
        <p:nvPicPr>
          <p:cNvPr id="4" name="Picture 3" descr="FD002_condnorm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 and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FD002 HGB: 18.3 to 12.9 RMSE (see results/before_after.csv)</a:t>
            </a:r>
          </a:p>
          <a:p>
            <a:pPr/>
            <a:r>
              <a:t>Bug: smoothing raw sensors blended operating modes</a:t>
            </a:r>
          </a:p>
          <a:p>
            <a:pPr/>
            <a:r>
              <a:t>Caught by checking WHAT the model relied on (s1/s5 top)</a:t>
            </a:r>
          </a:p>
        </p:txBody>
      </p:sp>
      <p:pic>
        <p:nvPicPr>
          <p:cNvPr id="4" name="Picture 3" descr="FD002_ablation_smooth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5486400" cy="2708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 results (capped test RMSE)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fd         FD001  FD002  FD003  FD004</a:t>
            </a:r>
          </a:p>
          <a:p>
            <a:pPr/>
            <a:r>
              <a:t>model                                </a:t>
            </a:r>
          </a:p>
          <a:p>
            <a:pPr/>
            <a:r>
              <a:t>cnn         14.6   16.5   17.7   18.5</a:t>
            </a:r>
          </a:p>
          <a:p>
            <a:pPr/>
            <a:r>
              <a:t>hgb         12.4   12.9   13.2   13.2</a:t>
            </a:r>
          </a:p>
          <a:p>
            <a:pPr/>
            <a:r>
              <a:t>hgb_tuned   12.2   12.8   12.9   13.0</a:t>
            </a:r>
          </a:p>
          <a:p>
            <a:pPr/>
            <a:r>
              <a:t>lstm        13.8   14.9   13.2   14.8</a:t>
            </a:r>
          </a:p>
          <a:p>
            <a:pPr/>
            <a:r>
              <a:t>mlp         13.5   14.6   14.7   13.4</a:t>
            </a:r>
          </a:p>
          <a:p>
            <a:pPr/>
            <a:r>
              <a:t>rf          12.3   13.2   14.7   13.7</a:t>
            </a:r>
          </a:p>
          <a:p>
            <a:pPr/>
            <a:r>
              <a:t>ridge       15.7   16.3   15.9   18.4</a:t>
            </a:r>
          </a:p>
        </p:txBody>
      </p:sp>
      <p:pic>
        <p:nvPicPr>
          <p:cNvPr id="4" name="Picture 3" descr="master_rms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51275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 (FD001)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Critical recall is the safety metric</a:t>
            </a:r>
          </a:p>
          <a:p>
            <a:pPr/>
            <a:r>
              <a:t>Errors sit in adjacent classes, not safe↔critical</a:t>
            </a:r>
          </a:p>
          <a:p>
            <a:pPr/>
            <a:r>
              <a:t>Headline direct: hgb (CV-selected)</a:t>
            </a:r>
          </a:p>
        </p:txBody>
      </p:sp>
      <p:pic>
        <p:nvPicPr>
          <p:cNvPr id="4" name="Picture 3" descr="FD001_cm_3class_h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4572000" cy="3769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Fails-within-30: ROC/PR + frozen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PR matters: positives are rare</a:t>
            </a:r>
          </a:p>
          <a:p>
            <a:pPr/>
            <a:r>
              <a:t>Threshold from out-of-fold preds at truncation points</a:t>
            </a:r>
          </a:p>
          <a:p>
            <a:pPr/>
            <a:r>
              <a:t>FD001: recall 1.00 at precision 0.93 (frozen t=40)</a:t>
            </a:r>
          </a:p>
        </p:txBody>
      </p:sp>
      <p:pic>
        <p:nvPicPr>
          <p:cNvPr id="4" name="Picture 3" descr="FD001_pr_h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5029200" cy="50879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time +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Median warning lead 50–53 cycles on every subset</a:t>
            </a:r>
          </a:p>
          <a:p>
            <a:pPr/>
            <a:r>
              <a:t>False alarms 0.28–0.96 per 100 cycles</a:t>
            </a:r>
          </a:p>
          <a:p>
            <a:pPr/>
            <a:r>
              <a:t>Assumed 10:1 costs; tuned threshold wins everywhere</a:t>
            </a:r>
          </a:p>
        </p:txBody>
      </p:sp>
      <p:pic>
        <p:nvPicPr>
          <p:cNvPr id="4" name="Picture 3" descr="FD001_leadtime_h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400800" cy="36152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Ablations: what earned its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Normalise-first +5.4; condnorm +6.2 (FD002)</a:t>
            </a:r>
          </a:p>
          <a:p>
            <a:pPr/>
            <a:r>
              <a:t>Rolling [10,30] beats [10]; window-30 sweet spot for deep</a:t>
            </a:r>
          </a:p>
          <a:p>
            <a:pPr/>
            <a:r>
              <a:t>Honest negatives: class-weights hurt; ops add nothing</a:t>
            </a:r>
          </a:p>
        </p:txBody>
      </p:sp>
      <p:pic>
        <p:nvPicPr>
          <p:cNvPr id="4" name="Picture 3" descr="FD002_ablation_cond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5486400" cy="30920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+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Simulated data; 13 critical engines on FD001/FD003</a:t>
            </a:r>
          </a:p>
          <a:p>
            <a:pPr/>
            <a:r>
              <a:t>Mondrian conformal: near-nominal, wide when far out</a:t>
            </a:r>
          </a:p>
          <a:p>
            <a:pPr/>
            <a:r>
              <a:t>Human signs every red — never autonomous grounding</a:t>
            </a:r>
          </a:p>
        </p:txBody>
      </p:sp>
      <p:pic>
        <p:nvPicPr>
          <p:cNvPr id="4" name="Picture 3" descr="conformal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5943600" cy="42086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+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Transformers with grouped validation; domain adaptation</a:t>
            </a:r>
          </a:p>
          <a:p>
            <a:pPr/>
            <a:r>
              <a:t>Survival heads; adaptive uncertainty; edge + drift</a:t>
            </a:r>
          </a:p>
          <a:p>
            <a:pPr/>
            <a: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